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1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5655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尾崎研究室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498080" y="1280160"/>
            <a:ext cx="4297680" cy="4297680"/>
          </a:xfrm>
          <a:prstGeom prst="ellipse">
            <a:avLst/>
          </a:prstGeom>
          <a:ln w="25400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099755" y="1881835"/>
            <a:ext cx="3094330" cy="3094330"/>
          </a:xfrm>
          <a:prstGeom prst="ellipse">
            <a:avLst/>
          </a:prstGeom>
          <a:ln w="25400">
            <a:solidFill>
              <a:srgbClr val="1B26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679942" y="2462022"/>
            <a:ext cx="1933956" cy="1933956"/>
          </a:xfrm>
          <a:prstGeom prst="ellipse">
            <a:avLst/>
          </a:prstGeom>
          <a:ln w="2540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646920" y="635508"/>
            <a:ext cx="0" cy="472745"/>
          </a:xfrm>
          <a:prstGeom prst="line">
            <a:avLst/>
          </a:prstGeom>
          <a:noFill/>
          <a:ln w="317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646920" y="5749747"/>
            <a:ext cx="0" cy="472745"/>
          </a:xfrm>
          <a:prstGeom prst="line">
            <a:avLst/>
          </a:prstGeom>
          <a:noFill/>
          <a:ln w="317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853428" y="3429000"/>
            <a:ext cx="472745" cy="0"/>
          </a:xfrm>
          <a:prstGeom prst="line">
            <a:avLst/>
          </a:prstGeom>
          <a:noFill/>
          <a:ln w="317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967667" y="3429000"/>
            <a:ext cx="472745" cy="0"/>
          </a:xfrm>
          <a:prstGeom prst="line">
            <a:avLst/>
          </a:prstGeom>
          <a:noFill/>
          <a:ln w="317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453524" y="3235604"/>
            <a:ext cx="386791" cy="386791"/>
          </a:xfrm>
          <a:prstGeom prst="ellipse">
            <a:avLst/>
          </a:prstGeom>
          <a:solidFill>
            <a:srgbClr val="FF4D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640080"/>
            <a:ext cx="5577840" cy="5577840"/>
          </a:xfrm>
          <a:prstGeom prst="ellipse">
            <a:avLst/>
          </a:prstGeom>
          <a:ln w="12700">
            <a:solidFill>
              <a:srgbClr val="1B265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8688679" y="1411057"/>
            <a:ext cx="128016" cy="128016"/>
          </a:xfrm>
          <a:prstGeom prst="ellipse">
            <a:avLst/>
          </a:prstGeom>
          <a:solidFill>
            <a:srgbClr val="4AF0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2030420" y="4702071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7081925" y="2130838"/>
            <a:ext cx="128016" cy="128016"/>
          </a:xfrm>
          <a:prstGeom prst="ellipse">
            <a:avLst/>
          </a:prstGeom>
          <a:solidFill>
            <a:srgbClr val="FF4D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8580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 CAMPUS — 研究室体験展示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17830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XREAL AR</a:t>
            </a:r>
            <a:endParaRPr lang="en-US" sz="54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シューティング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360°から迫る的を、撃ち落とせ。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ARグラス「XREAL」とコントローラー「Beam Pro」で遊ぶ、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現実の空間がそのまま戦場になるシューティングゲームです。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44068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51D3B"/>
          </a:solidFill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制限時間</a:t>
            </a:r>
            <a:r>
              <a:rPr lang="en-US" sz="14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60秒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80360" y="544068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51D3B"/>
          </a:solidFill>
          <a:ln w="1587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880360" y="5440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F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難易度 3段階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74920" y="544068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51D3B"/>
          </a:solidFill>
          <a:ln w="1587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074920" y="5440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その場で体験OK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5655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尾崎研究室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E1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6809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遊び方 — 4ステップで体験できます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50392" y="2057400"/>
            <a:ext cx="566928" cy="566928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5039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0392" y="280720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キャリブレーション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3319272"/>
            <a:ext cx="2093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Beam Pro </a:t>
            </a:r>
            <a:r>
              <a:rPr lang="en-US" sz="1400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を自然に</a:t>
            </a:r>
            <a:b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1400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持って画面をタップ</a:t>
            </a: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b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1400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正面の基準が決まる</a:t>
            </a: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5400000">
            <a:off x="3250692" y="3314700"/>
            <a:ext cx="182880" cy="182880"/>
          </a:xfrm>
          <a:prstGeom prst="triangle">
            <a:avLst/>
          </a:prstGeom>
          <a:solidFill>
            <a:srgbClr val="9AA7C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493008" y="178308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749040" y="2057400"/>
            <a:ext cx="566928" cy="566928"/>
          </a:xfrm>
          <a:prstGeom prst="ellipse">
            <a:avLst/>
          </a:prstGeom>
          <a:solidFill>
            <a:srgbClr val="4AF0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7490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280720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F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難易度をえらぶ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3319272"/>
            <a:ext cx="2093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目の前に EASY / NORMAL / HARD の的が出現。撃った的の難易度でゲームスタート！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149340" y="3314700"/>
            <a:ext cx="182880" cy="182880"/>
          </a:xfrm>
          <a:prstGeom prst="triangle">
            <a:avLst/>
          </a:prstGeom>
          <a:solidFill>
            <a:srgbClr val="9AA7C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391656" y="178308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647688" y="205740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64768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47688" y="280720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30秒間プレイ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47688" y="3319272"/>
            <a:ext cx="2093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周囲360°から的が迫ってくる。画面のふちの矢印がいちばん近い的の方向を教えてくれます。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 rot="5400000">
            <a:off x="9047988" y="3314700"/>
            <a:ext cx="182880" cy="182880"/>
          </a:xfrm>
          <a:prstGeom prst="triangle">
            <a:avLst/>
          </a:prstGeom>
          <a:solidFill>
            <a:srgbClr val="9AA7C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290304" y="178308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9546336" y="2057400"/>
            <a:ext cx="566928" cy="566928"/>
          </a:xfrm>
          <a:prstGeom prst="ellipse">
            <a:avLst/>
          </a:prstGeom>
          <a:solidFill>
            <a:srgbClr val="FF4D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54633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46336" y="280720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D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リザルト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46336" y="3319272"/>
            <a:ext cx="2093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最後まで生きのこれば GAME CLEAR！ライフが尽きると GAME OVER。タップで再挑戦！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5349240"/>
            <a:ext cx="11000232" cy="685800"/>
          </a:xfrm>
          <a:prstGeom prst="roundRect">
            <a:avLst>
              <a:gd name="adj" fmla="val 12000"/>
            </a:avLst>
          </a:prstGeom>
          <a:solidFill>
            <a:srgbClr val="101732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こまったら：</a:t>
            </a: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Beam Pro の App ボタンを押すと、いつでも最初（キャリブレーション）からやり直せます。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5655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尾崎研究室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E1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&amp; RULES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6809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操作とルール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977640" cy="4251960"/>
          </a:xfrm>
          <a:prstGeom prst="roundRect">
            <a:avLst>
              <a:gd name="adj" fmla="val 2069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操作方法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86968" y="2606040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2671877"/>
            <a:ext cx="160934" cy="160934"/>
          </a:xfrm>
          <a:prstGeom prst="ellipse">
            <a:avLst/>
          </a:prstGeom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033272" y="2562149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033272" y="2910352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43077" y="2752344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91280" y="2752344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020105" y="2739177"/>
            <a:ext cx="26335" cy="26335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画面タップ（トリガー）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9077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弾を発射 ／ </a:t>
            </a:r>
            <a:r>
              <a:rPr lang="en-US" sz="1400" dirty="0" err="1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</a:t>
            </a: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b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1400" dirty="0" err="1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これだけで最後まで遊べます</a:t>
            </a: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6968" y="3749040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952805" y="3814877"/>
            <a:ext cx="160934" cy="160934"/>
          </a:xfrm>
          <a:prstGeom prst="ellipse">
            <a:avLst/>
          </a:prstGeom>
          <a:ln w="1587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033272" y="3705149"/>
            <a:ext cx="0" cy="32187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033272" y="4053352"/>
            <a:ext cx="0" cy="32187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43077" y="3895344"/>
            <a:ext cx="32187" cy="0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191280" y="3895344"/>
            <a:ext cx="32187" cy="0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020105" y="3882177"/>
            <a:ext cx="26335" cy="26335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137160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光る点（レティクル）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0507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弾が当たる予想位置の目印</a:t>
            </a: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b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1400" dirty="0" err="1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点を的に重ねて撃とう</a:t>
            </a: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6968" y="4892040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52805" y="4957877"/>
            <a:ext cx="160934" cy="160934"/>
          </a:xfrm>
          <a:prstGeom prst="ellipse">
            <a:avLst/>
          </a:prstGeom>
          <a:ln w="1587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033272" y="4848149"/>
            <a:ext cx="0" cy="32187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033272" y="5196352"/>
            <a:ext cx="0" cy="32187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843077" y="5038344"/>
            <a:ext cx="32187" cy="0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1191280" y="5038344"/>
            <a:ext cx="32187" cy="0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020105" y="5025177"/>
            <a:ext cx="26335" cy="26335"/>
          </a:xfrm>
          <a:prstGeom prst="ellipse">
            <a:avLst/>
          </a:prstGeom>
          <a:solidFill>
            <a:srgbClr val="FF4D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37160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ボタン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51937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ゲームを最初からやり直せます。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4892040" y="2240280"/>
            <a:ext cx="2051304" cy="1600200"/>
          </a:xfrm>
          <a:prstGeom prst="roundRect">
            <a:avLst>
              <a:gd name="adj" fmla="val 5143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2377440"/>
            <a:ext cx="2051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F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4892040" y="3127248"/>
            <a:ext cx="2051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的に命中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17664" y="2240280"/>
            <a:ext cx="2051304" cy="1600200"/>
          </a:xfrm>
          <a:prstGeom prst="roundRect">
            <a:avLst>
              <a:gd name="adj" fmla="val 5143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7217664" y="2377440"/>
            <a:ext cx="2051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7217664" y="3127248"/>
            <a:ext cx="2051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弾が外れる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543288" y="2240280"/>
            <a:ext cx="2051304" cy="1600200"/>
          </a:xfrm>
          <a:prstGeom prst="roundRect">
            <a:avLst>
              <a:gd name="adj" fmla="val 5143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9543288" y="2377440"/>
            <a:ext cx="2051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D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−100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9543288" y="3127248"/>
            <a:ext cx="2051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的に到達される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（ライフも −1）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9204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難易度</a:t>
            </a:r>
            <a:endParaRPr lang="en-US" sz="17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822985"/>
              </p:ext>
            </p:extLst>
          </p:nvPr>
        </p:nvGraphicFramePr>
        <p:xfrm>
          <a:off x="4892040" y="4480560"/>
          <a:ext cx="6702551" cy="1554480"/>
        </p:xfrm>
        <a:graphic>
          <a:graphicData uri="http://schemas.openxmlformats.org/drawingml/2006/table">
            <a:tbl>
              <a:tblPr/>
              <a:tblGrid>
                <a:gridCol w="1876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8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7C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出現間隔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7C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同時出現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7C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ライフ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AF0A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EASY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 秒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D16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1.2 秒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 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4D8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HARD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 秒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 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5655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尾崎研究室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138928" y="685800"/>
            <a:ext cx="1920240" cy="1920240"/>
          </a:xfrm>
          <a:prstGeom prst="ellipse">
            <a:avLst/>
          </a:prstGeom>
          <a:ln w="25400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07762" y="954634"/>
            <a:ext cx="1382573" cy="1382573"/>
          </a:xfrm>
          <a:prstGeom prst="ellipse">
            <a:avLst/>
          </a:prstGeom>
          <a:ln w="25400">
            <a:solidFill>
              <a:srgbClr val="1B26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666994" y="1213866"/>
            <a:ext cx="864108" cy="864108"/>
          </a:xfrm>
          <a:prstGeom prst="ellipse">
            <a:avLst/>
          </a:prstGeom>
          <a:ln w="2540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48" y="397764"/>
            <a:ext cx="0" cy="211226"/>
          </a:xfrm>
          <a:prstGeom prst="line">
            <a:avLst/>
          </a:prstGeom>
          <a:noFill/>
          <a:ln w="317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099048" y="2682850"/>
            <a:ext cx="0" cy="211226"/>
          </a:xfrm>
          <a:prstGeom prst="line">
            <a:avLst/>
          </a:prstGeom>
          <a:noFill/>
          <a:ln w="317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850892" y="1645920"/>
            <a:ext cx="211226" cy="0"/>
          </a:xfrm>
          <a:prstGeom prst="line">
            <a:avLst/>
          </a:prstGeom>
          <a:noFill/>
          <a:ln w="317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135978" y="1645920"/>
            <a:ext cx="211226" cy="0"/>
          </a:xfrm>
          <a:prstGeom prst="line">
            <a:avLst/>
          </a:prstGeom>
          <a:noFill/>
          <a:ln w="317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012637" y="1559509"/>
            <a:ext cx="172822" cy="172822"/>
          </a:xfrm>
          <a:prstGeom prst="ellipse">
            <a:avLst/>
          </a:prstGeom>
          <a:solidFill>
            <a:srgbClr val="FF4D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0" y="30175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さあ、ハイスコアに挑戦！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0" y="3794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気になったら、スタッフに声をかけてください。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0888" y="44348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38632" y="467258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004468" y="4738421"/>
            <a:ext cx="160934" cy="160934"/>
          </a:xfrm>
          <a:prstGeom prst="ellipse">
            <a:avLst/>
          </a:prstGeom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084936" y="4628693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084936" y="4976896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94740" y="4818888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242944" y="4818888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071768" y="4805721"/>
            <a:ext cx="26335" cy="26335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359256" y="46542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メガネの方へ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3496" y="509320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XREAL は眼鏡型のデバイスです。ふだん眼鏡をかけている方は、外してから装着してください。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04208" y="44348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641952" y="467258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707788" y="4738421"/>
            <a:ext cx="160934" cy="160934"/>
          </a:xfrm>
          <a:prstGeom prst="ellipse">
            <a:avLst/>
          </a:prstGeom>
          <a:ln w="1587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788256" y="4628693"/>
            <a:ext cx="0" cy="32187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4788256" y="4976896"/>
            <a:ext cx="0" cy="32187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598060" y="4818888"/>
            <a:ext cx="32187" cy="0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4946264" y="4818888"/>
            <a:ext cx="32187" cy="0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775088" y="4805721"/>
            <a:ext cx="26335" cy="26335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062576" y="46542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酔いにご注意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96816" y="509320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映像酔いする可能性があります。気持ち悪くなったら、すぐに中止してスタッフに伝えてください。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07528" y="44348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8345272" y="467258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8411108" y="4738421"/>
            <a:ext cx="160934" cy="160934"/>
          </a:xfrm>
          <a:prstGeom prst="ellipse">
            <a:avLst/>
          </a:prstGeom>
          <a:ln w="1587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8491576" y="4628693"/>
            <a:ext cx="0" cy="32187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8491576" y="4976896"/>
            <a:ext cx="0" cy="32187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8301380" y="4818888"/>
            <a:ext cx="32187" cy="0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8649584" y="4818888"/>
            <a:ext cx="32187" cy="0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8478408" y="4805721"/>
            <a:ext cx="26335" cy="26335"/>
          </a:xfrm>
          <a:prstGeom prst="ellipse">
            <a:avLst/>
          </a:prstGeom>
          <a:solidFill>
            <a:srgbClr val="4AF0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8765896" y="46542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F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所要時間 約1分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00136" y="509320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キャリブレーションから</a:t>
            </a:r>
            <a:b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リザルトまで約1分。</a:t>
            </a:r>
            <a:b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1400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気軽にチャレンジできます</a:t>
            </a: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5655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尾崎研究室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235440" y="4480560"/>
            <a:ext cx="2743200" cy="2743200"/>
          </a:xfrm>
          <a:prstGeom prst="ellipse">
            <a:avLst/>
          </a:prstGeom>
          <a:ln w="19050">
            <a:solidFill>
              <a:srgbClr val="1B26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619488" y="4864608"/>
            <a:ext cx="1975104" cy="1975104"/>
          </a:xfrm>
          <a:prstGeom prst="ellipse">
            <a:avLst/>
          </a:prstGeom>
          <a:ln w="19050">
            <a:solidFill>
              <a:srgbClr val="1B26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989820" y="5234940"/>
            <a:ext cx="1234440" cy="1234440"/>
          </a:xfrm>
          <a:prstGeom prst="ellipse">
            <a:avLst/>
          </a:prstGeom>
          <a:ln w="19050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607040" y="4069080"/>
            <a:ext cx="0" cy="301752"/>
          </a:xfrm>
          <a:prstGeom prst="line">
            <a:avLst/>
          </a:prstGeom>
          <a:noFill/>
          <a:ln w="25400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607040" y="7333488"/>
            <a:ext cx="0" cy="301752"/>
          </a:xfrm>
          <a:prstGeom prst="line">
            <a:avLst/>
          </a:prstGeom>
          <a:noFill/>
          <a:ln w="25400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823960" y="5852160"/>
            <a:ext cx="301752" cy="0"/>
          </a:xfrm>
          <a:prstGeom prst="line">
            <a:avLst/>
          </a:prstGeom>
          <a:noFill/>
          <a:ln w="25400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2088368" y="5852160"/>
            <a:ext cx="301752" cy="0"/>
          </a:xfrm>
          <a:prstGeom prst="line">
            <a:avLst/>
          </a:prstGeom>
          <a:noFill/>
          <a:ln w="25400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0483596" y="5728716"/>
            <a:ext cx="246888" cy="246888"/>
          </a:xfrm>
          <a:prstGeom prst="ellipse">
            <a:avLst/>
          </a:prstGeom>
          <a:solidFill>
            <a:srgbClr val="2734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2DE1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GAME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このゲームの裏側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授業で習うあの知識が、リアルタイムで動いています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43888" y="3474720"/>
            <a:ext cx="2377440" cy="2377440"/>
          </a:xfrm>
          <a:prstGeom prst="ellipse">
            <a:avLst/>
          </a:prstGeom>
          <a:solidFill>
            <a:srgbClr val="151D3B"/>
          </a:solidFill>
          <a:ln w="2540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843888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43888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三角関数・ベクトル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07128" y="3474720"/>
            <a:ext cx="2377440" cy="2377440"/>
          </a:xfrm>
          <a:prstGeom prst="ellipse">
            <a:avLst/>
          </a:prstGeom>
          <a:solidFill>
            <a:srgbClr val="151D3B"/>
          </a:solidFill>
          <a:ln w="25400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907128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F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理科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07128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光・音・センサー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70368" y="3474720"/>
            <a:ext cx="2377440" cy="2377440"/>
          </a:xfrm>
          <a:prstGeom prst="ellipse">
            <a:avLst/>
          </a:prstGeom>
          <a:solidFill>
            <a:srgbClr val="151D3B"/>
          </a:solidFill>
          <a:ln w="25400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970368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D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970368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アルゴリズムと設計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5655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尾崎研究室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E1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6809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 — 的の動きは、ぜんぶ数式でできている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22376" y="1664208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88213" y="1730045"/>
            <a:ext cx="160934" cy="160934"/>
          </a:xfrm>
          <a:prstGeom prst="ellipse">
            <a:avLst/>
          </a:prstGeom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68680" y="1620317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68680" y="1968520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78485" y="1810512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026688" y="1810512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55513" y="1797345"/>
            <a:ext cx="26335" cy="26335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618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三角関数：的は円周上に出現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19751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DE1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r cos θ,  z = r sin 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2257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プレイヤーを中心に半径 r = 10m の円をつくり、ランダムな角度 θ で出現位置を決定。だから360°どこからでも来ます。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376" y="2926080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8213" y="2991917"/>
            <a:ext cx="160934" cy="160934"/>
          </a:xfrm>
          <a:prstGeom prst="ellipse">
            <a:avLst/>
          </a:prstGeom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68680" y="2882189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68680" y="3230392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78485" y="3072384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026688" y="3072384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55513" y="3059217"/>
            <a:ext cx="26335" cy="26335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18872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サイン波：ジグザグ移動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2369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DE1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横ゆれ = A sin(ωt)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58444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進行方向と垂直な向きにサイン波のずれを足すとジグザグに。振幅 A と速さ ω は毎回ランダムで、動きに個性が出ます。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2376" y="4187952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788213" y="4253789"/>
            <a:ext cx="160934" cy="160934"/>
          </a:xfrm>
          <a:prstGeom prst="ellipse">
            <a:avLst/>
          </a:prstGeom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868680" y="4144061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868680" y="4492264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78485" y="4334256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1026688" y="4334256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55513" y="4321089"/>
            <a:ext cx="26335" cy="26335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188720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らせん：円運動 × 縮む半径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88720" y="44988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DE1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半径 = A (1 − t)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48463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進行方向のまわりを回転しながら、近づくほど（t→1）回転半径を小さく。吸い込まれるような螺旋軌道になります。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2376" y="544982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88213" y="5515661"/>
            <a:ext cx="160934" cy="160934"/>
          </a:xfrm>
          <a:prstGeom prst="ellipse">
            <a:avLst/>
          </a:prstGeom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868680" y="5405933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868680" y="5754136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678485" y="5596128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1026688" y="5596128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855513" y="5582961"/>
            <a:ext cx="26335" cy="26335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1188720" y="5404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ベクトルと atan2：方向の計算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1188720" y="57607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DE1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atan2(z, x)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88720" y="610819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位置の引き算で「的→自分」の向き、外積で「横」の向きをつくる。一番近い的の方角は atan2 で角度にして矢印で表示。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178040" y="1828800"/>
            <a:ext cx="4416552" cy="4434840"/>
          </a:xfrm>
          <a:prstGeom prst="roundRect">
            <a:avLst>
              <a:gd name="adj" fmla="val 1863"/>
            </a:avLst>
          </a:prstGeom>
          <a:solidFill>
            <a:srgbClr val="101732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7178040" y="201168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的の出現イメージ（真上から見た図）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772400" y="2286000"/>
            <a:ext cx="3383280" cy="3383280"/>
          </a:xfrm>
          <a:prstGeom prst="ellipse">
            <a:avLst/>
          </a:prstGeom>
          <a:ln w="19050">
            <a:solidFill>
              <a:srgbClr val="2DE1F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9381744" y="389534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873252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 flipV="1">
            <a:off x="9464040" y="3022468"/>
            <a:ext cx="1396171" cy="955172"/>
          </a:xfrm>
          <a:prstGeom prst="line">
            <a:avLst/>
          </a:prstGeom>
          <a:noFill/>
          <a:ln w="15875">
            <a:solidFill>
              <a:srgbClr val="9AA7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960120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7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10 m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923053" y="4758243"/>
            <a:ext cx="182880" cy="182880"/>
          </a:xfrm>
          <a:prstGeom prst="ellipse">
            <a:avLst/>
          </a:prstGeom>
          <a:solidFill>
            <a:srgbClr val="4AF0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 rot="3538142">
            <a:off x="8492169" y="4445154"/>
            <a:ext cx="146304" cy="146304"/>
          </a:xfrm>
          <a:prstGeom prst="triangle">
            <a:avLst/>
          </a:prstGeom>
          <a:solidFill>
            <a:srgbClr val="4AF0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9985579" y="5462875"/>
            <a:ext cx="182880" cy="18288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 rot="-1274704">
            <a:off x="9770935" y="4882026"/>
            <a:ext cx="146304" cy="146304"/>
          </a:xfrm>
          <a:prstGeom prst="triangl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8144584" y="2722747"/>
            <a:ext cx="182880" cy="182880"/>
          </a:xfrm>
          <a:prstGeom prst="ellipse">
            <a:avLst/>
          </a:prstGeom>
          <a:solidFill>
            <a:srgbClr val="FF4D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 rot="8007212">
            <a:off x="8629518" y="3183147"/>
            <a:ext cx="146304" cy="146304"/>
          </a:xfrm>
          <a:prstGeom prst="triangle">
            <a:avLst/>
          </a:prstGeom>
          <a:solidFill>
            <a:srgbClr val="FF4D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7178040" y="5870448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的は円周上に出現し、中心へ向かってくる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5655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尾崎研究室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4AF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6809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理科 — 光・音・センサーが「本物らしさ」をつくる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413248" cy="2011680"/>
          </a:xfrm>
          <a:prstGeom prst="roundRect">
            <a:avLst>
              <a:gd name="adj" fmla="val 4091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32104" y="206654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97941" y="2132381"/>
            <a:ext cx="160934" cy="160934"/>
          </a:xfrm>
          <a:prstGeom prst="ellipse">
            <a:avLst/>
          </a:prstGeom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78408" y="2022653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78408" y="2370856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788213" y="2212848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36416" y="2212848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65241" y="2199681"/>
            <a:ext cx="26335" cy="26335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280160" y="202996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光の反射 — ARグラスのしくみ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78408" y="2487168"/>
            <a:ext cx="4681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グラスの中の小さなディスプレイの映像を、ハーフミラー（半分だけ光を反射する鏡）で目に届けます。現実の景色はそのまま透けて見えるので、映像と現実が重なって見えるのです。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27648" y="1828800"/>
            <a:ext cx="5413248" cy="2011680"/>
          </a:xfrm>
          <a:prstGeom prst="roundRect">
            <a:avLst>
              <a:gd name="adj" fmla="val 4091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565392" y="206654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631229" y="2132381"/>
            <a:ext cx="160934" cy="160934"/>
          </a:xfrm>
          <a:prstGeom prst="ellipse">
            <a:avLst/>
          </a:prstGeom>
          <a:ln w="1587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711696" y="2022653"/>
            <a:ext cx="0" cy="32187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711696" y="2370856"/>
            <a:ext cx="0" cy="32187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521501" y="2212848"/>
            <a:ext cx="32187" cy="0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869704" y="2212848"/>
            <a:ext cx="32187" cy="0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698529" y="2199681"/>
            <a:ext cx="26335" cy="26335"/>
          </a:xfrm>
          <a:prstGeom prst="ellipse">
            <a:avLst/>
          </a:prstGeom>
          <a:solidFill>
            <a:srgbClr val="4AF0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013448" y="202996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F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音の性質 — 3Dサウンド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11696" y="2487168"/>
            <a:ext cx="4681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的の移動音は距離が離れるほど小さく聞こえます（距離減衰）。さらに左右の耳に届く音量やタイミングの差を再現しているので、見えていない後ろの的も「音」で方向がわかります。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4160520"/>
            <a:ext cx="5413248" cy="2011680"/>
          </a:xfrm>
          <a:prstGeom prst="roundRect">
            <a:avLst>
              <a:gd name="adj" fmla="val 4091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832104" y="439826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897941" y="4464101"/>
            <a:ext cx="160934" cy="160934"/>
          </a:xfrm>
          <a:prstGeom prst="ellipse">
            <a:avLst/>
          </a:prstGeom>
          <a:ln w="1587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978408" y="4354373"/>
            <a:ext cx="0" cy="32187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978408" y="4702576"/>
            <a:ext cx="0" cy="32187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788213" y="4544568"/>
            <a:ext cx="32187" cy="0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136416" y="4544568"/>
            <a:ext cx="32187" cy="0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965241" y="4531401"/>
            <a:ext cx="26335" cy="26335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280160" y="436168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慣性センサー — 頭の動きを測る（6DoF）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78408" y="4818888"/>
            <a:ext cx="4681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加速度センサーとジャイロ（角速度）センサー、そしてカメラの映像を組み合わせて、頭の位置と向きを毎秒たくさん計測。前後左右上下＋回転の6方向（6DoF）を追跡するから、歩いても映像がズレません。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27648" y="4160520"/>
            <a:ext cx="5413248" cy="2011680"/>
          </a:xfrm>
          <a:prstGeom prst="roundRect">
            <a:avLst>
              <a:gd name="adj" fmla="val 4091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6565392" y="439826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6631229" y="4464101"/>
            <a:ext cx="160934" cy="160934"/>
          </a:xfrm>
          <a:prstGeom prst="ellipse">
            <a:avLst/>
          </a:prstGeom>
          <a:ln w="1587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6711696" y="4354373"/>
            <a:ext cx="0" cy="32187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6711696" y="4702576"/>
            <a:ext cx="0" cy="32187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6521501" y="4544568"/>
            <a:ext cx="32187" cy="0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6869704" y="4544568"/>
            <a:ext cx="32187" cy="0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6698529" y="4531401"/>
            <a:ext cx="26335" cy="26335"/>
          </a:xfrm>
          <a:prstGeom prst="ellipse">
            <a:avLst/>
          </a:prstGeom>
          <a:solidFill>
            <a:srgbClr val="FF4D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7013448" y="436168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4D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振動 — 手に伝わるハプティクス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6711696" y="4818888"/>
            <a:ext cx="4681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命中の瞬間、コントローラー内部のモーターが一瞬だけ振動します。目（エフェクト）と耳（効果音）に加えて、手ざわりでも「当たった！」を伝える三重の演出です。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XREALグラスは片目ごとに映像を少しずらして表示し、立体感（両眼視差）も再現しています。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85655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尾崎研究室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4D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6809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 — プログラムの設計とアルゴリズム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1417320"/>
          </a:xfrm>
          <a:prstGeom prst="roundRect">
            <a:avLst>
              <a:gd name="adj" fmla="val 5806"/>
            </a:avLst>
          </a:prstGeom>
          <a:solidFill>
            <a:srgbClr val="101732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D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ステートマシン（状態遷移）— ゲームは4つの「状態」を行き来する設計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237744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1D3B"/>
          </a:solidFill>
          <a:ln w="19050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キャリブレーション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5400000">
            <a:off x="3300984" y="2569464"/>
            <a:ext cx="164592" cy="164592"/>
          </a:xfrm>
          <a:prstGeom prst="triangle">
            <a:avLst/>
          </a:prstGeom>
          <a:solidFill>
            <a:srgbClr val="9AA7C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566160" y="237744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1D3B"/>
          </a:solidFill>
          <a:ln w="19050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56616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F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難易度選択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5400000">
            <a:off x="5815584" y="2569464"/>
            <a:ext cx="164592" cy="164592"/>
          </a:xfrm>
          <a:prstGeom prst="triangle">
            <a:avLst/>
          </a:prstGeom>
          <a:solidFill>
            <a:srgbClr val="9AA7C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080760" y="237744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1D3B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08076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8330184" y="2569464"/>
            <a:ext cx="164592" cy="164592"/>
          </a:xfrm>
          <a:prstGeom prst="triangle">
            <a:avLst/>
          </a:prstGeom>
          <a:solidFill>
            <a:srgbClr val="9AA7C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595360" y="237744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51D3B"/>
          </a:solidFill>
          <a:ln w="19050">
            <a:solidFill>
              <a:srgbClr val="FF4D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59536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リザルト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29626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↺ タップで最初へ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347472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32104" y="371246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97941" y="3778301"/>
            <a:ext cx="160934" cy="160934"/>
          </a:xfrm>
          <a:prstGeom prst="ellipse">
            <a:avLst/>
          </a:prstGeom>
          <a:ln w="1587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78408" y="3668573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78408" y="4016776"/>
            <a:ext cx="0" cy="32187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788213" y="3858768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36416" y="3858768"/>
            <a:ext cx="32187" cy="0"/>
          </a:xfrm>
          <a:prstGeom prst="line">
            <a:avLst/>
          </a:prstGeom>
          <a:noFill/>
          <a:ln w="22225">
            <a:solidFill>
              <a:srgbClr val="2DE1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65241" y="3845601"/>
            <a:ext cx="26335" cy="26335"/>
          </a:xfrm>
          <a:prstGeom prst="ellipse">
            <a:avLst/>
          </a:prstGeom>
          <a:solidFill>
            <a:srgbClr val="2DE1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1280160" y="369417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E1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当たり判定：SphereCast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160520"/>
            <a:ext cx="2907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弾の進路に「見えない太い球」を毎フレーム飛ばして衝突を検査。高速の弾が的をすり抜けるバグを防ぎつつ、少し狙いがズレても当たる＝エイムアシストにもなっています。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25112" y="347472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562856" y="371246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628693" y="3778301"/>
            <a:ext cx="160934" cy="160934"/>
          </a:xfrm>
          <a:prstGeom prst="ellipse">
            <a:avLst/>
          </a:prstGeom>
          <a:ln w="1587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709160" y="3668573"/>
            <a:ext cx="0" cy="32187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4709160" y="4016776"/>
            <a:ext cx="0" cy="32187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4518965" y="3858768"/>
            <a:ext cx="32187" cy="0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4867168" y="3858768"/>
            <a:ext cx="32187" cy="0"/>
          </a:xfrm>
          <a:prstGeom prst="line">
            <a:avLst/>
          </a:prstGeom>
          <a:noFill/>
          <a:ln w="22225">
            <a:solidFill>
              <a:srgbClr val="4AF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4695993" y="3845601"/>
            <a:ext cx="26335" cy="26335"/>
          </a:xfrm>
          <a:prstGeom prst="ellipse">
            <a:avLst/>
          </a:prstGeom>
          <a:solidFill>
            <a:srgbClr val="4AF0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010912" y="369417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F0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オブジェクトプール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45152" y="4160520"/>
            <a:ext cx="2907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的は毎回つくって壊すのではなく、最初に10体つくって使い回します。生成・破棄のコストとメモリのゴミ（GC）を減らし、AR機器でもカクつかずに動きます。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55864" y="347472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51D3B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8293608" y="3712464"/>
            <a:ext cx="292608" cy="292608"/>
          </a:xfrm>
          <a:prstGeom prst="ellipse">
            <a:avLst/>
          </a:prstGeom>
          <a:ln w="15875">
            <a:solidFill>
              <a:srgbClr val="2734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8359445" y="3778301"/>
            <a:ext cx="160934" cy="160934"/>
          </a:xfrm>
          <a:prstGeom prst="ellipse">
            <a:avLst/>
          </a:prstGeom>
          <a:ln w="1587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8439912" y="3668573"/>
            <a:ext cx="0" cy="32187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8439912" y="4016776"/>
            <a:ext cx="0" cy="32187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8249717" y="3858768"/>
            <a:ext cx="32187" cy="0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8597920" y="3858768"/>
            <a:ext cx="32187" cy="0"/>
          </a:xfrm>
          <a:prstGeom prst="line">
            <a:avLst/>
          </a:prstGeom>
          <a:noFill/>
          <a:ln w="222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8426745" y="3845601"/>
            <a:ext cx="26335" cy="26335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8741664" y="369417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deltaTime：速度の正規化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375904" y="4160520"/>
            <a:ext cx="2907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移動量には「前のフレームからの経過時間」を掛け算。1秒間に描く回数（fps）が違う機種でも、的や弾は同じ速さで動きます。ゲームは毎秒約60回この計算を繰り返しています。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開発環境：Unity（ゲームエンジン）＋ C#（プログラミング言語）＋ XREAL SDK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620</Words>
  <Application>Microsoft Macintosh PowerPoint</Application>
  <PresentationFormat>ワイド画面</PresentationFormat>
  <Paragraphs>134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庭木　啓吾</cp:lastModifiedBy>
  <cp:revision>3</cp:revision>
  <dcterms:created xsi:type="dcterms:W3CDTF">2026-07-14T05:30:13Z</dcterms:created>
  <dcterms:modified xsi:type="dcterms:W3CDTF">2026-07-18T04:57:22Z</dcterms:modified>
</cp:coreProperties>
</file>